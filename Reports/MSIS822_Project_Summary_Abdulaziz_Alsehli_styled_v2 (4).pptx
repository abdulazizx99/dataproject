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1" r:id="rId11"/>
    <p:sldId id="270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03764"/>
                </a:solidFill>
              </a:defRPr>
            </a:pPr>
            <a:r>
              <a:t>Detecting AI-Generated Arabic Abstracts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MSIS-822 Project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Abdulaziz </a:t>
            </a:r>
            <a:r>
              <a:rPr dirty="0" err="1"/>
              <a:t>Owaidh</a:t>
            </a:r>
            <a:r>
              <a:rPr dirty="0"/>
              <a:t> </a:t>
            </a:r>
            <a:r>
              <a:rPr dirty="0" err="1"/>
              <a:t>Alsehli</a:t>
            </a:r>
            <a:r>
              <a:rPr dirty="0"/>
              <a:t> (ID: 4714237)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Taibah University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067434-84C4-1BC3-6F75-79B35A53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272" y="77479"/>
            <a:ext cx="5446511" cy="1261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188720"/>
            <a:ext cx="74919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Large language models can now write Arabic text that looks very close to human writing. This creates problems in universities and online platforms because it becomes difficult to know if a piece of text was written by a student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generated by an AI tool. In this project, we build a binary classifier that decides whether an Arabic abstract is human- written or AI-generated. We use a unified dataset of 41,940 abstracts and apply a dedicated preprocessing pipeline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Arabic, including diacritic removal, normalization, </a:t>
            </a:r>
            <a:r>
              <a:rPr sz="2000" dirty="0" err="1">
                <a:solidFill>
                  <a:srgbClr val="000000"/>
                </a:solidFill>
              </a:rPr>
              <a:t>stopword</a:t>
            </a:r>
            <a:r>
              <a:rPr sz="2000" dirty="0">
                <a:solidFill>
                  <a:srgbClr val="000000"/>
                </a:solidFill>
              </a:rPr>
              <a:t> removal, and stemming. Sentence-transformer embeddings are extracted and used as features for several models: Logistic Regression, Support Vector Machine, Random Forest, </a:t>
            </a:r>
            <a:r>
              <a:rPr sz="2000" dirty="0" err="1">
                <a:solidFill>
                  <a:srgbClr val="000000"/>
                </a:solidFill>
              </a:rPr>
              <a:t>XGBoost</a:t>
            </a:r>
            <a:r>
              <a:rPr sz="2000" dirty="0">
                <a:solidFill>
                  <a:srgbClr val="000000"/>
                </a:solidFill>
              </a:rPr>
              <a:t>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2955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Generative language models such as GPT-based systems, </a:t>
            </a:r>
            <a:r>
              <a:rPr sz="2000" dirty="0" err="1">
                <a:solidFill>
                  <a:srgbClr val="000000"/>
                </a:solidFill>
              </a:rPr>
              <a:t>LLaMA</a:t>
            </a:r>
            <a:r>
              <a:rPr sz="2000" dirty="0">
                <a:solidFill>
                  <a:srgbClr val="000000"/>
                </a:solidFill>
              </a:rPr>
              <a:t>, and other transformer models are 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abstracts and short articles that look very similar to human academic writing. This situation raises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50102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Dataset: KFUPM-JRCAI Arabic generated abstracts.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Total samples: 41,940 abstracts (human-written and AI-generated).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Labels: created = 0 (human), created = 1 (AI-generated).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Data stored in original_data.xlsx and clean_data.xlsx for inspection.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256" y="1188720"/>
            <a:ext cx="7721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Arabic-specific preprocessing: normalization, diacritics removal, </a:t>
            </a:r>
            <a:r>
              <a:rPr sz="2000" dirty="0" err="1">
                <a:solidFill>
                  <a:srgbClr val="000000"/>
                </a:solidFill>
              </a:rPr>
              <a:t>stopword</a:t>
            </a:r>
            <a:r>
              <a:rPr sz="2000" dirty="0">
                <a:solidFill>
                  <a:srgbClr val="000000"/>
                </a:solidFill>
              </a:rPr>
              <a:t> removal, tokenization.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Sentence-transformer embeddings used to represent each abstract as a dense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Hand-crafted stylometric features (length, punctuation, vocabulary richness, etc.).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Stylometric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722" y="1188720"/>
            <a:ext cx="81186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Feature 12 – short-word ratio (very short words / total words).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Feature 35 – number of paragraphs in each abstract.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Feature 58 – count of words among the top-100 most frequent 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Feature 81 – language-model-based log-likelihood score (</a:t>
            </a:r>
            <a:r>
              <a:rPr sz="2000" dirty="0" err="1">
                <a:solidFill>
                  <a:srgbClr val="000000"/>
                </a:solidFill>
              </a:rPr>
              <a:t>LogRank</a:t>
            </a:r>
            <a:r>
              <a:rPr sz="2000" dirty="0">
                <a:solidFill>
                  <a:srgbClr val="000000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Feature 104 – frequency of specific Arabic root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469B-E1F7-5260-0DDE-9E58FAF6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B31E0C-8D1F-80F6-3CDD-2C425626796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2167F-F4AA-FF91-2910-7246606A8E7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A3AB7-5E30-5DF1-5B7F-592191A361B4}"/>
              </a:ext>
            </a:extLst>
          </p:cNvPr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90B41-3F85-1C0E-6B34-DD13C8D34BC2}"/>
              </a:ext>
            </a:extLst>
          </p:cNvPr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Methodology – Stylometric Features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CF25EE-75F5-7C6D-5558-EE5161FC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13" y="1736746"/>
            <a:ext cx="7946078" cy="35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4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2A99-BEB7-8B70-2376-CB14AD53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CFA9E3-24BD-5347-9FC2-172492A7333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0E1EA-E4E6-8ADA-5A24-69E73475296C}"/>
              </a:ext>
            </a:extLst>
          </p:cNvPr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159F4-A9B9-BE85-7817-8A02BA8B38AB}"/>
              </a:ext>
            </a:extLst>
          </p:cNvPr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Stylometric Features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F493A0-C5CE-3CAB-7822-71F9FF578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988360"/>
            <a:ext cx="7724775" cy="349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41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78D6-1844-A155-E39E-6A53D66B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BC7485-100A-977D-BF5C-48554EC5AF7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5D95BA-7A90-E2EE-0DAE-5463DB11EF6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C68B6-E43F-8C64-40B6-04BC732AB414}"/>
              </a:ext>
            </a:extLst>
          </p:cNvPr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A438C-4CED-9E4A-64AF-0053D67DCF46}"/>
              </a:ext>
            </a:extLst>
          </p:cNvPr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Stylometric Features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DD40AF-52FB-052E-445B-831F0726D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56" y="1672338"/>
            <a:ext cx="7552340" cy="417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2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5732-89D0-AADD-E268-B86FE253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A2DBD0-2948-056A-1026-697C4FE76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994D8-5932-30FB-0CCE-8499030B5FF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D16B1F-BE55-BB71-7E60-047037CF2B36}"/>
              </a:ext>
            </a:extLst>
          </p:cNvPr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367EF-FFA9-E373-8699-2C8152138302}"/>
              </a:ext>
            </a:extLst>
          </p:cNvPr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Stylometric Features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4824D5-D2C8-9F47-10C6-9029CCAC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44" y="1661570"/>
            <a:ext cx="8663788" cy="392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0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8E87C-237F-A46B-5F78-22802D7B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6F07EC-4539-396A-A9D5-FBBB9ACB313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ED0B93-765F-9CE4-0F5A-37B80EE4CE4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A6826-F682-2E7D-AB5B-23FA47E4ABF5}"/>
              </a:ext>
            </a:extLst>
          </p:cNvPr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EB368-85D4-43BA-8242-A26A53E22F53}"/>
              </a:ext>
            </a:extLst>
          </p:cNvPr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– Stylometric Features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9B7804-9ABA-4BE0-92B3-03415A54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16" y="1650829"/>
            <a:ext cx="8407570" cy="381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8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315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Classical models: Logistic Regression, Support Vector Machine (SVM), Random Forest, </a:t>
            </a:r>
            <a:r>
              <a:rPr sz="2000" dirty="0" err="1">
                <a:solidFill>
                  <a:srgbClr val="000000"/>
                </a:solidFill>
              </a:rPr>
              <a:t>XGBoost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Neural model: Feedforward Neural Network (FFNN) on top of transformer embeddings.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Models trained on the same feature set for a fair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 – Overall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19"/>
            <a:ext cx="75410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Random Forest achieves the best overall performance (Accuracy ≈ 0.9793, F1 ≈ 0.9497).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SVM and </a:t>
            </a:r>
            <a:r>
              <a:rPr sz="2000" dirty="0" err="1">
                <a:solidFill>
                  <a:srgbClr val="000000"/>
                </a:solidFill>
              </a:rPr>
              <a:t>XGBoost</a:t>
            </a:r>
            <a:r>
              <a:rPr sz="2000" dirty="0">
                <a:solidFill>
                  <a:srgbClr val="000000"/>
                </a:solidFill>
              </a:rPr>
              <a:t> also perform strongly with accuracy above 0.97.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Logistic Regression is slightly weaker but still above 0.96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FFNN performs noticeably worse (Accuracy ≈ 0.8774, F1 ≈ 0.6854).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19"/>
            <a:ext cx="79828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Classical models on top of transformer embeddings are very strong for this task.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Random Forest benefits from non-linear decision boundaries and feature interactions.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FFNN underperforms, likely due to limited tuning and model capacity.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Class imbalance (more AI-generated than human abstracts) affects recall for the minority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188720"/>
            <a:ext cx="77987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It is feasible to detect AI-generated Arabic abstracts with high accuracy.</a:t>
            </a:r>
          </a:p>
          <a:p>
            <a:r>
              <a:rPr sz="2000" dirty="0">
                <a:solidFill>
                  <a:srgbClr val="000000"/>
                </a:solidFill>
              </a:rPr>
              <a:t>Random Forest, SVM and </a:t>
            </a:r>
            <a:r>
              <a:rPr sz="2000" dirty="0" err="1">
                <a:solidFill>
                  <a:srgbClr val="000000"/>
                </a:solidFill>
              </a:rPr>
              <a:t>XGBoost</a:t>
            </a:r>
            <a:r>
              <a:rPr sz="2000" dirty="0">
                <a:solidFill>
                  <a:srgbClr val="000000"/>
                </a:solidFill>
              </a:rPr>
              <a:t> achieve strong performance on this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Stylometric features and transformer embeddings complement each 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00"/>
                </a:solidFill>
              </a:rPr>
              <a:t>Future work: address class imbalance and explore fine-tuned transformer classifiers.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544</Words>
  <Application>Microsoft Office PowerPoint</Application>
  <PresentationFormat>全屏显示(4:3)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Detecting AI-Generated Arabic Abstracts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ABDULRAHMAN YOUSEF BIN IBRAHEEM DABBOUR</cp:lastModifiedBy>
  <cp:revision>7</cp:revision>
  <dcterms:created xsi:type="dcterms:W3CDTF">2013-01-27T09:14:16Z</dcterms:created>
  <dcterms:modified xsi:type="dcterms:W3CDTF">2025-12-16T16:13:23Z</dcterms:modified>
  <cp:category/>
</cp:coreProperties>
</file>